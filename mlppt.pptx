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69" r:id="rId2"/>
    <p:sldId id="268" r:id="rId3"/>
    <p:sldId id="256" r:id="rId4"/>
    <p:sldId id="257" r:id="rId5"/>
    <p:sldId id="258" r:id="rId6"/>
    <p:sldId id="259" r:id="rId7"/>
    <p:sldId id="283" r:id="rId8"/>
    <p:sldId id="262" r:id="rId9"/>
    <p:sldId id="284" r:id="rId10"/>
    <p:sldId id="260" r:id="rId11"/>
    <p:sldId id="285" r:id="rId12"/>
    <p:sldId id="261" r:id="rId13"/>
    <p:sldId id="286" r:id="rId14"/>
    <p:sldId id="264" r:id="rId15"/>
    <p:sldId id="270" r:id="rId16"/>
    <p:sldId id="271" r:id="rId17"/>
    <p:sldId id="272" r:id="rId18"/>
    <p:sldId id="273" r:id="rId19"/>
    <p:sldId id="274" r:id="rId20"/>
    <p:sldId id="279" r:id="rId21"/>
    <p:sldId id="282" r:id="rId22"/>
    <p:sldId id="281" r:id="rId23"/>
    <p:sldId id="287" r:id="rId24"/>
    <p:sldId id="290" r:id="rId25"/>
    <p:sldId id="288" r:id="rId26"/>
    <p:sldId id="275" r:id="rId27"/>
    <p:sldId id="289" r:id="rId28"/>
    <p:sldId id="26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1B5642-9D43-42FB-B563-51F0FB8EBB2B}" v="27" dt="2026-01-30T13:48:29.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5" autoAdjust="0"/>
    <p:restoredTop sz="95033" autoAdjust="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088924-41E3-4B08-B6F3-422F95165A45}" type="datetimeFigureOut">
              <a:rPr lang="en-IN" smtClean="0"/>
              <a:t>11-05-2026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33FDFD-9E13-4B03-B3CC-30222C33FB06}" type="slidenum">
              <a:rPr lang="en-IN" smtClean="0"/>
              <a:t>‹#›</a:t>
            </a:fld>
            <a:endParaRPr lang="en-IN"/>
          </a:p>
        </p:txBody>
      </p:sp>
    </p:spTree>
    <p:extLst>
      <p:ext uri="{BB962C8B-B14F-4D97-AF65-F5344CB8AC3E}">
        <p14:creationId xmlns:p14="http://schemas.microsoft.com/office/powerpoint/2010/main" val="2222790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633FDFD-9E13-4B03-B3CC-30222C33FB06}" type="slidenum">
              <a:rPr lang="en-IN" smtClean="0"/>
              <a:t>3</a:t>
            </a:fld>
            <a:endParaRPr lang="en-IN"/>
          </a:p>
        </p:txBody>
      </p:sp>
    </p:spTree>
    <p:extLst>
      <p:ext uri="{BB962C8B-B14F-4D97-AF65-F5344CB8AC3E}">
        <p14:creationId xmlns:p14="http://schemas.microsoft.com/office/powerpoint/2010/main" val="3942752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84A37-33ED-B002-D728-9138EEEFD0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0BC0A2-3139-75CF-280F-BCCF2A14A2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ED00E0-E171-01DC-5BAF-0E33B1FF5E33}"/>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5" name="Footer Placeholder 4">
            <a:extLst>
              <a:ext uri="{FF2B5EF4-FFF2-40B4-BE49-F238E27FC236}">
                <a16:creationId xmlns:a16="http://schemas.microsoft.com/office/drawing/2014/main" id="{78BFD3CE-60EB-21B8-720F-98B6E9D52E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1B5995-5D20-B6B5-78CA-9CB920FB13A7}"/>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1824185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D473F-6B09-1AFC-D158-282C92E9CF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75892A-71F6-6780-38F2-05C57BEF2F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432AF3-D81B-C75D-CA79-B295B916CB8B}"/>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5" name="Footer Placeholder 4">
            <a:extLst>
              <a:ext uri="{FF2B5EF4-FFF2-40B4-BE49-F238E27FC236}">
                <a16:creationId xmlns:a16="http://schemas.microsoft.com/office/drawing/2014/main" id="{7CA944FF-653C-FB48-6A4C-B9B936ED09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444281-1124-231C-49DA-8988A39E465D}"/>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3601652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D29B-B5CA-754A-408D-0F55CE7636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41559B-65F8-4CAF-4345-199E6E7274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FD9190-C3F6-7944-003C-BB161A15091A}"/>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5" name="Footer Placeholder 4">
            <a:extLst>
              <a:ext uri="{FF2B5EF4-FFF2-40B4-BE49-F238E27FC236}">
                <a16:creationId xmlns:a16="http://schemas.microsoft.com/office/drawing/2014/main" id="{730E641A-BC0F-9B80-139D-E974EDACC5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2A9667-144A-6CEB-46AE-F0C50A496FE3}"/>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4264863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61212-FC07-A6CB-86C9-E44823536F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D52C00-DF65-543E-2E7F-C6F91463F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297DC3E-475F-25A2-E84D-67FF68A49B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0F28255-9A0A-4F27-8842-A9F8D5A9391D}"/>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6" name="Footer Placeholder 5">
            <a:extLst>
              <a:ext uri="{FF2B5EF4-FFF2-40B4-BE49-F238E27FC236}">
                <a16:creationId xmlns:a16="http://schemas.microsoft.com/office/drawing/2014/main" id="{E9A10C61-5559-4D46-C8F5-1C39264796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944777-4ADD-CAF1-C9DB-C1B7978D203F}"/>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2051310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9B7D0-EF99-ECA7-51D6-8264149C4A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6528A0-C324-4BC2-52A1-96E97BB511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490C93-CE8A-A131-810F-D689F77C5E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57B1E5-65C2-9E39-E152-81FD739244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810ECE-774E-91C3-FB0E-2FCF07B9B5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86F5C1-2B22-DFA2-00CD-3B8DF210F1F4}"/>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8" name="Footer Placeholder 7">
            <a:extLst>
              <a:ext uri="{FF2B5EF4-FFF2-40B4-BE49-F238E27FC236}">
                <a16:creationId xmlns:a16="http://schemas.microsoft.com/office/drawing/2014/main" id="{581C48AA-8CA6-30EC-A770-DCBE5C2B1E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9967434-6DA9-F91E-A1FA-2CDBE5704BE9}"/>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4175947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5E80-37C0-3FAD-E587-8F7D5522CA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D9D876-E03D-0EF5-B886-E153A02F06C2}"/>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4" name="Footer Placeholder 3">
            <a:extLst>
              <a:ext uri="{FF2B5EF4-FFF2-40B4-BE49-F238E27FC236}">
                <a16:creationId xmlns:a16="http://schemas.microsoft.com/office/drawing/2014/main" id="{F31DBB97-1D19-41D2-155A-09823B5441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9B75E88-9B95-1BF7-E458-F17A98434ECB}"/>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1683331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1EBBD5-270C-167F-15DA-C646A6E83CEB}"/>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3" name="Footer Placeholder 2">
            <a:extLst>
              <a:ext uri="{FF2B5EF4-FFF2-40B4-BE49-F238E27FC236}">
                <a16:creationId xmlns:a16="http://schemas.microsoft.com/office/drawing/2014/main" id="{6B80B122-0E40-7693-F13F-69B4B67455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9C4AD8-4D65-BAB1-5D8C-2D346DC4C757}"/>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2607584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58640-F081-B7DD-F045-B10DA4217E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7C38F9-6D22-9F4C-CBDA-881E982F35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8BC6E89-B855-1AA9-C754-6AD8A5081B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7216DF-DD59-402A-91BE-6EAADEFA0DD8}"/>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6" name="Footer Placeholder 5">
            <a:extLst>
              <a:ext uri="{FF2B5EF4-FFF2-40B4-BE49-F238E27FC236}">
                <a16:creationId xmlns:a16="http://schemas.microsoft.com/office/drawing/2014/main" id="{5EB559FC-3473-2AA2-355A-8212D3E57C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35CB5E-A28E-C2A5-8347-40C9060DFCC9}"/>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736217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0F504-21D4-C297-5305-6AB1D41811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4A2D8C-3123-D2B4-10B7-2160C57AD3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92B3100-A791-26DE-3B58-97663540A6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DC6AE0-4305-EF13-2D22-962736550F09}"/>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6" name="Footer Placeholder 5">
            <a:extLst>
              <a:ext uri="{FF2B5EF4-FFF2-40B4-BE49-F238E27FC236}">
                <a16:creationId xmlns:a16="http://schemas.microsoft.com/office/drawing/2014/main" id="{2B25C661-215D-F23A-4454-D0290255E7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5F04CB-E969-035A-61AF-9D4DAD5F30FD}"/>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3502652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6ED1C-B7E1-6088-EB3B-60E285EB33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E77EC7-1B26-C404-36AA-D02C9BFE2B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0B8292-76BA-F6A8-5D6B-2585E6B6BDC3}"/>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5" name="Footer Placeholder 4">
            <a:extLst>
              <a:ext uri="{FF2B5EF4-FFF2-40B4-BE49-F238E27FC236}">
                <a16:creationId xmlns:a16="http://schemas.microsoft.com/office/drawing/2014/main" id="{EFB26965-97B4-B244-3084-83AD528D08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538A9E-8A5B-8D17-1C19-F63C8717D3DB}"/>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1896304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E02432-F3AE-15F8-7C22-73A939ED7C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536A02-DA60-2FB6-2F8E-1D8144DB02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0D0C0E-D74C-90F7-5DAD-7298696BF456}"/>
              </a:ext>
            </a:extLst>
          </p:cNvPr>
          <p:cNvSpPr>
            <a:spLocks noGrp="1"/>
          </p:cNvSpPr>
          <p:nvPr>
            <p:ph type="dt" sz="half" idx="10"/>
          </p:nvPr>
        </p:nvSpPr>
        <p:spPr/>
        <p:txBody>
          <a:bodyPr/>
          <a:lstStyle/>
          <a:p>
            <a:fld id="{DF54F58E-B024-4AEE-A90B-1FC96ED47AAA}" type="datetimeFigureOut">
              <a:rPr lang="en-IN" smtClean="0"/>
              <a:t>11-05-2026</a:t>
            </a:fld>
            <a:endParaRPr lang="en-IN"/>
          </a:p>
        </p:txBody>
      </p:sp>
      <p:sp>
        <p:nvSpPr>
          <p:cNvPr id="5" name="Footer Placeholder 4">
            <a:extLst>
              <a:ext uri="{FF2B5EF4-FFF2-40B4-BE49-F238E27FC236}">
                <a16:creationId xmlns:a16="http://schemas.microsoft.com/office/drawing/2014/main" id="{FAF28D8E-B829-6AF6-94B9-971FEE923B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3AB0D8-1D97-5BDC-5DE6-C7CA12C95E20}"/>
              </a:ext>
            </a:extLst>
          </p:cNvPr>
          <p:cNvSpPr>
            <a:spLocks noGrp="1"/>
          </p:cNvSpPr>
          <p:nvPr>
            <p:ph type="sldNum" sz="quarter" idx="12"/>
          </p:nvPr>
        </p:nvSpPr>
        <p:spPr/>
        <p:txBody>
          <a:bodyPr/>
          <a:lstStyle/>
          <a:p>
            <a:fld id="{553F1FC2-43D5-40A1-A591-7729BD526B59}" type="slidenum">
              <a:rPr lang="en-IN" smtClean="0"/>
              <a:t>‹#›</a:t>
            </a:fld>
            <a:endParaRPr lang="en-IN"/>
          </a:p>
        </p:txBody>
      </p:sp>
    </p:spTree>
    <p:extLst>
      <p:ext uri="{BB962C8B-B14F-4D97-AF65-F5344CB8AC3E}">
        <p14:creationId xmlns:p14="http://schemas.microsoft.com/office/powerpoint/2010/main" val="1595420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BC3283-2088-C4DA-3EFF-8E3D82F338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ACF1ED-A6D2-BB26-0976-74FE1BCA0E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1BFB44-85D9-EA38-4ADB-E12CADD720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54F58E-B024-4AEE-A90B-1FC96ED47AAA}" type="datetimeFigureOut">
              <a:rPr lang="en-IN" smtClean="0"/>
              <a:t>11-05-2026</a:t>
            </a:fld>
            <a:endParaRPr lang="en-IN"/>
          </a:p>
        </p:txBody>
      </p:sp>
      <p:sp>
        <p:nvSpPr>
          <p:cNvPr id="5" name="Footer Placeholder 4">
            <a:extLst>
              <a:ext uri="{FF2B5EF4-FFF2-40B4-BE49-F238E27FC236}">
                <a16:creationId xmlns:a16="http://schemas.microsoft.com/office/drawing/2014/main" id="{386A9E4B-FED7-99B0-9851-E302E1F260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D6A3AD-2C8D-6342-0743-12D4709962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3F1FC2-43D5-40A1-A591-7729BD526B59}" type="slidenum">
              <a:rPr lang="en-IN" smtClean="0"/>
              <a:t>‹#›</a:t>
            </a:fld>
            <a:endParaRPr lang="en-IN"/>
          </a:p>
        </p:txBody>
      </p:sp>
    </p:spTree>
    <p:extLst>
      <p:ext uri="{BB962C8B-B14F-4D97-AF65-F5344CB8AC3E}">
        <p14:creationId xmlns:p14="http://schemas.microsoft.com/office/powerpoint/2010/main" val="1616772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pandas.pydata.org/" TargetMode="External"/><Relationship Id="rId2" Type="http://schemas.openxmlformats.org/officeDocument/2006/relationships/hyperlink" Target="https://scikit-learn.org/" TargetMode="External"/><Relationship Id="rId1" Type="http://schemas.openxmlformats.org/officeDocument/2006/relationships/slideLayout" Target="../slideLayouts/slideLayout2.xml"/><Relationship Id="rId5" Type="http://schemas.openxmlformats.org/officeDocument/2006/relationships/hyperlink" Target="https://seaborn.pydata.org/" TargetMode="External"/><Relationship Id="rId4" Type="http://schemas.openxmlformats.org/officeDocument/2006/relationships/hyperlink" Target="https://numpy.or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981686-3C90-B6C1-0545-F6E60DF84694}"/>
              </a:ext>
            </a:extLst>
          </p:cNvPr>
          <p:cNvSpPr txBox="1"/>
          <p:nvPr/>
        </p:nvSpPr>
        <p:spPr>
          <a:xfrm>
            <a:off x="223936" y="2634706"/>
            <a:ext cx="11166676" cy="954107"/>
          </a:xfrm>
          <a:prstGeom prst="rect">
            <a:avLst/>
          </a:prstGeom>
          <a:noFill/>
        </p:spPr>
        <p:txBody>
          <a:bodyPr wrap="square">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FAKE PROFILE DETECTION USING</a:t>
            </a:r>
          </a:p>
          <a:p>
            <a:pPr algn="ctr"/>
            <a:r>
              <a:rPr lang="en-US" sz="2800" b="1" dirty="0">
                <a:solidFill>
                  <a:srgbClr val="FF0000"/>
                </a:solidFill>
                <a:latin typeface="Times New Roman" panose="02020603050405020304" pitchFamily="18" charset="0"/>
                <a:cs typeface="Times New Roman" panose="02020603050405020304" pitchFamily="18" charset="0"/>
              </a:rPr>
              <a:t> MACHINE LEARNING</a:t>
            </a:r>
          </a:p>
        </p:txBody>
      </p:sp>
      <p:sp>
        <p:nvSpPr>
          <p:cNvPr id="5" name="TextBox 4">
            <a:extLst>
              <a:ext uri="{FF2B5EF4-FFF2-40B4-BE49-F238E27FC236}">
                <a16:creationId xmlns:a16="http://schemas.microsoft.com/office/drawing/2014/main" id="{EEBE7525-838B-A577-5BED-BE407A3FA68F}"/>
              </a:ext>
            </a:extLst>
          </p:cNvPr>
          <p:cNvSpPr txBox="1"/>
          <p:nvPr/>
        </p:nvSpPr>
        <p:spPr>
          <a:xfrm>
            <a:off x="852201" y="4046601"/>
            <a:ext cx="3249283" cy="369332"/>
          </a:xfrm>
          <a:prstGeom prst="rect">
            <a:avLst/>
          </a:prstGeom>
          <a:noFill/>
        </p:spPr>
        <p:txBody>
          <a:bodyPr wrap="square">
            <a:spAutoFit/>
          </a:bodyPr>
          <a:lstStyle/>
          <a:p>
            <a:pPr algn="r"/>
            <a:r>
              <a:rPr lang="en-IN" dirty="0">
                <a:latin typeface="Times New Roman" panose="02020603050405020304" pitchFamily="18" charset="0"/>
                <a:cs typeface="Times New Roman" panose="02020603050405020304" pitchFamily="18" charset="0"/>
              </a:rPr>
              <a:t> </a:t>
            </a:r>
          </a:p>
        </p:txBody>
      </p:sp>
      <p:graphicFrame>
        <p:nvGraphicFramePr>
          <p:cNvPr id="6" name="Table 5">
            <a:extLst>
              <a:ext uri="{FF2B5EF4-FFF2-40B4-BE49-F238E27FC236}">
                <a16:creationId xmlns:a16="http://schemas.microsoft.com/office/drawing/2014/main" id="{76780382-49F1-6A9B-DF0B-C3BC13D331A6}"/>
              </a:ext>
            </a:extLst>
          </p:cNvPr>
          <p:cNvGraphicFramePr>
            <a:graphicFrameLocks noGrp="1"/>
          </p:cNvGraphicFramePr>
          <p:nvPr>
            <p:extLst>
              <p:ext uri="{D42A27DB-BD31-4B8C-83A1-F6EECF244321}">
                <p14:modId xmlns:p14="http://schemas.microsoft.com/office/powerpoint/2010/main" val="4192791981"/>
              </p:ext>
            </p:extLst>
          </p:nvPr>
        </p:nvGraphicFramePr>
        <p:xfrm>
          <a:off x="7427167" y="3847381"/>
          <a:ext cx="3751250" cy="1869057"/>
        </p:xfrm>
        <a:graphic>
          <a:graphicData uri="http://schemas.openxmlformats.org/drawingml/2006/table">
            <a:tbl>
              <a:tblPr>
                <a:tableStyleId>{2D5ABB26-0587-4C30-8999-92F81FD0307C}</a:tableStyleId>
              </a:tblPr>
              <a:tblGrid>
                <a:gridCol w="3751250">
                  <a:extLst>
                    <a:ext uri="{9D8B030D-6E8A-4147-A177-3AD203B41FA5}">
                      <a16:colId xmlns:a16="http://schemas.microsoft.com/office/drawing/2014/main" val="962079759"/>
                    </a:ext>
                  </a:extLst>
                </a:gridCol>
              </a:tblGrid>
              <a:tr h="1869057">
                <a:tc>
                  <a:txBody>
                    <a:bodyPr/>
                    <a:lstStyle/>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49361685"/>
                  </a:ext>
                </a:extLst>
              </a:tr>
            </a:tbl>
          </a:graphicData>
        </a:graphic>
      </p:graphicFrame>
    </p:spTree>
    <p:extLst>
      <p:ext uri="{BB962C8B-B14F-4D97-AF65-F5344CB8AC3E}">
        <p14:creationId xmlns:p14="http://schemas.microsoft.com/office/powerpoint/2010/main" val="1147489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C6982-8E47-65A8-E4D7-0999089E4B71}"/>
              </a:ext>
            </a:extLst>
          </p:cNvPr>
          <p:cNvSpPr>
            <a:spLocks noGrp="1"/>
          </p:cNvSpPr>
          <p:nvPr>
            <p:ph type="title"/>
          </p:nvPr>
        </p:nvSpPr>
        <p:spPr>
          <a:xfrm>
            <a:off x="370114" y="-112731"/>
            <a:ext cx="10515600" cy="1104805"/>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CONTENTS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EAC7DF-3C4F-0EEC-79DE-0B321ADBADFC}"/>
              </a:ext>
            </a:extLst>
          </p:cNvPr>
          <p:cNvSpPr>
            <a:spLocks noGrp="1"/>
          </p:cNvSpPr>
          <p:nvPr>
            <p:ph sz="half" idx="1"/>
          </p:nvPr>
        </p:nvSpPr>
        <p:spPr>
          <a:xfrm>
            <a:off x="370114" y="805462"/>
            <a:ext cx="5181600" cy="4351338"/>
          </a:xfrm>
        </p:spPr>
        <p:txBody>
          <a:bodyPr>
            <a:noAutofit/>
          </a:bodyPr>
          <a:lstStyle/>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Introduction                                                                                                          </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Abstract                                                                                                            </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Problem statement                                                             </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Existing system</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Limitations of Existing System</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Proposed System</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Advantages</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System Requirement Specifications</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System Design(UML Diagrams)</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Model Implementation</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System Workflow</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Results</a:t>
            </a:r>
          </a:p>
        </p:txBody>
      </p:sp>
      <p:sp>
        <p:nvSpPr>
          <p:cNvPr id="4" name="Content Placeholder 3">
            <a:extLst>
              <a:ext uri="{FF2B5EF4-FFF2-40B4-BE49-F238E27FC236}">
                <a16:creationId xmlns:a16="http://schemas.microsoft.com/office/drawing/2014/main" id="{EF86CA72-ADD9-F663-F02F-AA2B7F12A7F7}"/>
              </a:ext>
            </a:extLst>
          </p:cNvPr>
          <p:cNvSpPr>
            <a:spLocks noGrp="1"/>
          </p:cNvSpPr>
          <p:nvPr>
            <p:ph sz="half" idx="2"/>
          </p:nvPr>
        </p:nvSpPr>
        <p:spPr>
          <a:xfrm>
            <a:off x="5551714" y="992074"/>
            <a:ext cx="5181600" cy="4351338"/>
          </a:xfrm>
        </p:spPr>
        <p:txBody>
          <a:bodyPr>
            <a:normAutofit/>
          </a:bodyPr>
          <a:lstStyle/>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Performance Evaluation</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Future Work</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Conclusion</a:t>
            </a:r>
          </a:p>
          <a:p>
            <a:pPr>
              <a:lnSpc>
                <a:spcPct val="12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Bibliography</a:t>
            </a:r>
          </a:p>
          <a:p>
            <a:endParaRPr lang="en-IN" dirty="0"/>
          </a:p>
        </p:txBody>
      </p:sp>
    </p:spTree>
    <p:extLst>
      <p:ext uri="{BB962C8B-B14F-4D97-AF65-F5344CB8AC3E}">
        <p14:creationId xmlns:p14="http://schemas.microsoft.com/office/powerpoint/2010/main" val="1047547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ACFBCE-EEBB-B6F3-EFCE-5BEEA9B3729C}"/>
              </a:ext>
            </a:extLst>
          </p:cNvPr>
          <p:cNvSpPr>
            <a:spLocks noGrp="1"/>
          </p:cNvSpPr>
          <p:nvPr>
            <p:ph type="title"/>
          </p:nvPr>
        </p:nvSpPr>
        <p:spPr>
          <a:xfrm>
            <a:off x="722513" y="22052"/>
            <a:ext cx="7944465" cy="925642"/>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INTRODUCTION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69FBAC4-1A53-07BE-C9CC-C643C0D08FAD}"/>
              </a:ext>
            </a:extLst>
          </p:cNvPr>
          <p:cNvSpPr>
            <a:spLocks noGrp="1"/>
          </p:cNvSpPr>
          <p:nvPr>
            <p:ph idx="1"/>
          </p:nvPr>
        </p:nvSpPr>
        <p:spPr>
          <a:xfrm>
            <a:off x="191729" y="783453"/>
            <a:ext cx="11808542" cy="5888253"/>
          </a:xfrm>
        </p:spPr>
        <p:txBody>
          <a:bodyPr>
            <a:noAutofit/>
          </a:bodyPr>
          <a:lstStyle/>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Nowadays, online social media is dominating the world in several ways. Day by day the number of users using social Media is increasing drastically. </a:t>
            </a:r>
          </a:p>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main advantage of online social media is that we can connect to people easily and communicate with them in a better way. </a:t>
            </a:r>
          </a:p>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provided a new way of a potential attack, such as fake identity, false information, etc.</a:t>
            </a:r>
          </a:p>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recent survey suggest that the number of accounts present in the social media is much greater than the users using it.This suggest that fake accounts have been increased in the recent years. Online social media providers face difficulty in identifying these fake accounts.</a:t>
            </a:r>
          </a:p>
          <a:p>
            <a:pPr marL="0" indent="0" algn="just">
              <a:lnSpc>
                <a:spcPct val="16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2969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BE464-2268-6CB7-B3DD-54CD3E830317}"/>
              </a:ext>
            </a:extLst>
          </p:cNvPr>
          <p:cNvSpPr>
            <a:spLocks noGrp="1"/>
          </p:cNvSpPr>
          <p:nvPr>
            <p:ph type="title"/>
          </p:nvPr>
        </p:nvSpPr>
        <p:spPr>
          <a:xfrm>
            <a:off x="481445" y="262944"/>
            <a:ext cx="10872355" cy="1325563"/>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ABSTRACT</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37EDA7-B467-50AC-9F08-CA256C2C75F9}"/>
              </a:ext>
            </a:extLst>
          </p:cNvPr>
          <p:cNvSpPr>
            <a:spLocks noGrp="1"/>
          </p:cNvSpPr>
          <p:nvPr>
            <p:ph idx="1"/>
          </p:nvPr>
        </p:nvSpPr>
        <p:spPr>
          <a:xfrm>
            <a:off x="401781" y="1268963"/>
            <a:ext cx="11308774" cy="4663311"/>
          </a:xfrm>
        </p:spPr>
        <p:txBody>
          <a:bodyPr>
            <a:normAutofit/>
          </a:bodyPr>
          <a:lstStyle/>
          <a:p>
            <a:pPr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Social media platforms (Facebook, Twitter, Instagram, LinkedIn, etc.) are rapidly growing, but face rising issues of fake accounts.</a:t>
            </a:r>
          </a:p>
          <a:p>
            <a:pPr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Fake profiles (created by humans, bots, or computers) spread false information, scams, phishing, and identity theft.</a:t>
            </a:r>
          </a:p>
          <a:p>
            <a:pPr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Detecting these accounts is a major challenge for social media providers.</a:t>
            </a:r>
          </a:p>
          <a:p>
            <a:pPr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This project proposes a fake profile detection model using machine learning &amp; boosting techniques.</a:t>
            </a:r>
          </a:p>
        </p:txBody>
      </p:sp>
    </p:spTree>
    <p:extLst>
      <p:ext uri="{BB962C8B-B14F-4D97-AF65-F5344CB8AC3E}">
        <p14:creationId xmlns:p14="http://schemas.microsoft.com/office/powerpoint/2010/main" val="1665470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A9486-6FA8-753A-FC99-EFF9A795F41E}"/>
              </a:ext>
            </a:extLst>
          </p:cNvPr>
          <p:cNvSpPr>
            <a:spLocks noGrp="1"/>
          </p:cNvSpPr>
          <p:nvPr>
            <p:ph type="title"/>
          </p:nvPr>
        </p:nvSpPr>
        <p:spPr>
          <a:xfrm>
            <a:off x="606489" y="89514"/>
            <a:ext cx="10515600" cy="1325563"/>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PROBLEM STATEMENT</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4F061C-511E-77C9-E0DC-98647D8BE024}"/>
              </a:ext>
            </a:extLst>
          </p:cNvPr>
          <p:cNvSpPr>
            <a:spLocks noGrp="1"/>
          </p:cNvSpPr>
          <p:nvPr>
            <p:ph idx="1"/>
          </p:nvPr>
        </p:nvSpPr>
        <p:spPr>
          <a:xfrm>
            <a:off x="418322" y="1253331"/>
            <a:ext cx="11355355" cy="4351338"/>
          </a:xfrm>
        </p:spPr>
        <p:txBody>
          <a:bodyPr>
            <a:norm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rise of fake profiles on social media leads to issues like misinformation, fraud, and cybercrime. Manual detection is ineffective, so this project aims to build a machine learning-based system to automatically classify user accounts as real or fake using profile and activity features.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293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EDCD9-FF4D-2F71-3FD9-0C1C3D40A921}"/>
              </a:ext>
            </a:extLst>
          </p:cNvPr>
          <p:cNvSpPr>
            <a:spLocks noGrp="1"/>
          </p:cNvSpPr>
          <p:nvPr>
            <p:ph type="title"/>
          </p:nvPr>
        </p:nvSpPr>
        <p:spPr>
          <a:xfrm>
            <a:off x="499939" y="-65314"/>
            <a:ext cx="10881851" cy="1325563"/>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EXISTING SYSTEM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A684F52-46F0-2462-F975-297D568962DF}"/>
              </a:ext>
            </a:extLst>
          </p:cNvPr>
          <p:cNvSpPr>
            <a:spLocks noGrp="1"/>
          </p:cNvSpPr>
          <p:nvPr>
            <p:ph idx="1"/>
          </p:nvPr>
        </p:nvSpPr>
        <p:spPr>
          <a:xfrm>
            <a:off x="174913" y="1032117"/>
            <a:ext cx="11842173" cy="5597706"/>
          </a:xfrm>
        </p:spPr>
        <p:txBody>
          <a:bodyPr>
            <a:no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existing systems use very fewer factors to decide whether an account is Fake or not. The factors largely affect the way decision making occurs. When the number of factors is low, the accuracy of the decision making is reduced significantly. </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is an exceptional improvement in fake account creation, which is unmatched by the software or application used to detect the fake account. Due to the advancement in creation of fake account, existing methods have turned obsolete. </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most common algorithm used by fake account detection Applications is the Random forest algorithm. </a:t>
            </a:r>
          </a:p>
        </p:txBody>
      </p:sp>
    </p:spTree>
    <p:extLst>
      <p:ext uri="{BB962C8B-B14F-4D97-AF65-F5344CB8AC3E}">
        <p14:creationId xmlns:p14="http://schemas.microsoft.com/office/powerpoint/2010/main" val="3107870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F24C4D-A29D-EC23-5E3A-4EBD2444B6A2}"/>
              </a:ext>
            </a:extLst>
          </p:cNvPr>
          <p:cNvSpPr txBox="1"/>
          <p:nvPr/>
        </p:nvSpPr>
        <p:spPr>
          <a:xfrm>
            <a:off x="522514" y="568158"/>
            <a:ext cx="11318032" cy="2241960"/>
          </a:xfrm>
          <a:prstGeom prst="rect">
            <a:avLst/>
          </a:prstGeom>
          <a:noFill/>
        </p:spPr>
        <p:txBody>
          <a:bodyPr wrap="square">
            <a:sp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algorithm has few downsides such as inefficiency to handle the categorical variables which has different number of levels. </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Also, when there is an increase in the number of trees, the algorithm's time efficiency takes a hit.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7302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10AD-9B42-2B87-2CCD-4C71D475A756}"/>
              </a:ext>
            </a:extLst>
          </p:cNvPr>
          <p:cNvSpPr>
            <a:spLocks noGrp="1"/>
          </p:cNvSpPr>
          <p:nvPr>
            <p:ph type="title"/>
          </p:nvPr>
        </p:nvSpPr>
        <p:spPr>
          <a:xfrm>
            <a:off x="489293" y="288797"/>
            <a:ext cx="10515600" cy="665921"/>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LIMITATIONS OF EXISTING SYSTEM</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09F6425-5370-0666-CAC6-BB1AB90F58FF}"/>
              </a:ext>
            </a:extLst>
          </p:cNvPr>
          <p:cNvSpPr>
            <a:spLocks noGrp="1"/>
          </p:cNvSpPr>
          <p:nvPr>
            <p:ph idx="1"/>
          </p:nvPr>
        </p:nvSpPr>
        <p:spPr>
          <a:xfrm>
            <a:off x="193963" y="976376"/>
            <a:ext cx="11804073" cy="5633145"/>
          </a:xfrm>
        </p:spPr>
        <p:txBody>
          <a:bodyPr>
            <a:no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Limited Factors Considered – Only a few profile/activity features are analyzed, leading to lower accuracy.</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Obsolete Techniques – Fails to keep up with advanced fake profile creation strategies.</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Random Forest Drawbacks –Struggles with categorical variables having multiple levels. Increased trees higher time complexity and slower performance.</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Scalability Issues – Cannot efficiently handle very large datasets from real-time social media.</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Generalization Problem – Models may overfit and fail to detect newly emerging fake account patterns.</a:t>
            </a:r>
          </a:p>
        </p:txBody>
      </p:sp>
    </p:spTree>
    <p:extLst>
      <p:ext uri="{BB962C8B-B14F-4D97-AF65-F5344CB8AC3E}">
        <p14:creationId xmlns:p14="http://schemas.microsoft.com/office/powerpoint/2010/main" val="1504972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3443FF5-7597-C4DA-1429-A11AF30BEE9D}"/>
              </a:ext>
            </a:extLst>
          </p:cNvPr>
          <p:cNvSpPr txBox="1"/>
          <p:nvPr/>
        </p:nvSpPr>
        <p:spPr>
          <a:xfrm>
            <a:off x="382555" y="715545"/>
            <a:ext cx="11467323" cy="2241960"/>
          </a:xfrm>
          <a:prstGeom prst="rect">
            <a:avLst/>
          </a:prstGeom>
          <a:noFill/>
        </p:spPr>
        <p:txBody>
          <a:bodyPr wrap="square">
            <a:sp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Generalization Problem – Models may overfit and fail to detect newly emerging fake account patterns.</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Lack of Real-Time Detection – Most systems are offline and not suitable for live social media monitoring.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1645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C4638-E361-65AB-2B9B-A440EC652423}"/>
              </a:ext>
            </a:extLst>
          </p:cNvPr>
          <p:cNvSpPr>
            <a:spLocks noGrp="1"/>
          </p:cNvSpPr>
          <p:nvPr>
            <p:ph type="title"/>
          </p:nvPr>
        </p:nvSpPr>
        <p:spPr>
          <a:xfrm>
            <a:off x="481916" y="28299"/>
            <a:ext cx="10515600" cy="1325563"/>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PROPOSED SYSTEM</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6AC902-CD5D-C6D9-B392-407EDB625847}"/>
              </a:ext>
            </a:extLst>
          </p:cNvPr>
          <p:cNvSpPr>
            <a:spLocks noGrp="1"/>
          </p:cNvSpPr>
          <p:nvPr>
            <p:ph idx="1"/>
          </p:nvPr>
        </p:nvSpPr>
        <p:spPr>
          <a:xfrm>
            <a:off x="214168" y="1185295"/>
            <a:ext cx="11763664" cy="6031769"/>
          </a:xfrm>
        </p:spPr>
        <p:txBody>
          <a:bodyPr>
            <a:no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gradient boosting algorithm is similar to the random forest algorithm in that it relies heavily on decision trees. We have modified the way we find fake accounts, using new approaches to locate them. Spam commenting, interaction rate, and artificial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are some of the techniques used. </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gradient boosting algorithm uses these inputs to build decision trees, which are then used in the gradient boosting algorithm. Even if some inputs are missing, this algorithm produces a result. This is the primary reason for using this algorithm. </a:t>
            </a:r>
          </a:p>
        </p:txBody>
      </p:sp>
    </p:spTree>
    <p:extLst>
      <p:ext uri="{BB962C8B-B14F-4D97-AF65-F5344CB8AC3E}">
        <p14:creationId xmlns:p14="http://schemas.microsoft.com/office/powerpoint/2010/main" val="1709166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E58BF7-212D-74AB-ED7F-D59620D7AEA5}"/>
              </a:ext>
            </a:extLst>
          </p:cNvPr>
          <p:cNvSpPr txBox="1"/>
          <p:nvPr/>
        </p:nvSpPr>
        <p:spPr>
          <a:xfrm>
            <a:off x="506963" y="714972"/>
            <a:ext cx="11178074" cy="2795958"/>
          </a:xfrm>
          <a:prstGeom prst="rect">
            <a:avLst/>
          </a:prstGeom>
          <a:noFill/>
        </p:spPr>
        <p:txBody>
          <a:bodyPr wrap="square">
            <a:sp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We were able to obtain extremely accurate results by using this algorithm.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and GBM performed brilliantly when compared with the previous work. It outperforms the accuracy of fake account identification by a large margin even with the default values of the hyperparameters provided in. Finally, we achieved a better result than earlier attempts.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6567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C6821-071A-36B2-2A99-E1290A2B2FE9}"/>
              </a:ext>
            </a:extLst>
          </p:cNvPr>
          <p:cNvSpPr>
            <a:spLocks noGrp="1"/>
          </p:cNvSpPr>
          <p:nvPr>
            <p:ph type="title"/>
          </p:nvPr>
        </p:nvSpPr>
        <p:spPr>
          <a:xfrm>
            <a:off x="693318" y="205374"/>
            <a:ext cx="10515600" cy="1050720"/>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ADVANTAGES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A22DE-F9AF-12BE-9A95-FC6D0E2425E2}"/>
              </a:ext>
            </a:extLst>
          </p:cNvPr>
          <p:cNvSpPr>
            <a:spLocks noGrp="1"/>
          </p:cNvSpPr>
          <p:nvPr>
            <p:ph idx="1"/>
          </p:nvPr>
        </p:nvSpPr>
        <p:spPr>
          <a:xfrm>
            <a:off x="275146" y="1055980"/>
            <a:ext cx="11565401" cy="6044828"/>
          </a:xfrm>
        </p:spPr>
        <p:txBody>
          <a:bodyPr>
            <a:no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Handles Missing Data – The algorithm can still produce reliable results even if some inputs Higher Accuracy – Gradient Boosting (GBM/</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outperforms Random Forest with more precise classification of fake accounts are missing.</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Considers More Features – Factors like spam commenting, interaction rate, and artificial behavior improve decision-making.</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Robust Performance – Works well even with default hyperparameters and can be fine-tuned for better results.</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Better Generalization – Reduces overfitting and adapts well to new fake account creation strategies.</a:t>
            </a:r>
          </a:p>
          <a:p>
            <a:pPr algn="just">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932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A98E19-9AD3-3D59-0996-CFDA7B3C938B}"/>
              </a:ext>
            </a:extLst>
          </p:cNvPr>
          <p:cNvSpPr txBox="1"/>
          <p:nvPr/>
        </p:nvSpPr>
        <p:spPr>
          <a:xfrm>
            <a:off x="320351" y="658988"/>
            <a:ext cx="11551298" cy="1687963"/>
          </a:xfrm>
          <a:prstGeom prst="rect">
            <a:avLst/>
          </a:prstGeom>
          <a:noFill/>
        </p:spPr>
        <p:txBody>
          <a:bodyPr wrap="square">
            <a:sp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Efficient for Complex Data – Handles categorical variables and high-dimensional data effectively.</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Scalable – Suitable for large-scale social media datasets and real-time detection.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4173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D82243-026B-F912-E5F8-642B19A15110}"/>
              </a:ext>
            </a:extLst>
          </p:cNvPr>
          <p:cNvSpPr>
            <a:spLocks noGrp="1"/>
          </p:cNvSpPr>
          <p:nvPr>
            <p:ph type="title"/>
          </p:nvPr>
        </p:nvSpPr>
        <p:spPr>
          <a:xfrm>
            <a:off x="838200" y="365126"/>
            <a:ext cx="10515600" cy="784406"/>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SYSTEM REQUIREMENT SPECIFICATION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65B2750-04B1-F5C5-ED91-19A77087E799}"/>
              </a:ext>
            </a:extLst>
          </p:cNvPr>
          <p:cNvSpPr>
            <a:spLocks noGrp="1"/>
          </p:cNvSpPr>
          <p:nvPr>
            <p:ph idx="1"/>
          </p:nvPr>
        </p:nvSpPr>
        <p:spPr>
          <a:xfrm>
            <a:off x="494522" y="1341120"/>
            <a:ext cx="10859278" cy="4835843"/>
          </a:xfrm>
        </p:spPr>
        <p:txBody>
          <a:bodyPr>
            <a:normAutofit/>
          </a:bodyPr>
          <a:lstStyle/>
          <a:p>
            <a:pPr marL="0" indent="0">
              <a:lnSpc>
                <a:spcPct val="160000"/>
              </a:lnSpc>
              <a:buNone/>
            </a:pPr>
            <a:r>
              <a:rPr lang="en-IN" sz="2400" b="1" dirty="0">
                <a:latin typeface="Times New Roman" panose="02020603050405020304" pitchFamily="18" charset="0"/>
                <a:cs typeface="Times New Roman" panose="02020603050405020304" pitchFamily="18" charset="0"/>
              </a:rPr>
              <a:t>Hardware Requirements:</a:t>
            </a:r>
          </a:p>
          <a:p>
            <a:pPr>
              <a:lnSpc>
                <a:spcPct val="16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Processor    </a:t>
            </a:r>
            <a:r>
              <a:rPr lang="en-IN" sz="2400" dirty="0">
                <a:latin typeface="Times New Roman" panose="02020603050405020304" pitchFamily="18" charset="0"/>
                <a:cs typeface="Times New Roman" panose="02020603050405020304" pitchFamily="18" charset="0"/>
              </a:rPr>
              <a:t>      : Intel i3/i5 or equivalent (i7 recommended for faster training)</a:t>
            </a:r>
          </a:p>
          <a:p>
            <a:pPr>
              <a:lnSpc>
                <a:spcPct val="16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RAM </a:t>
            </a:r>
            <a:r>
              <a:rPr lang="en-IN" sz="2400" dirty="0">
                <a:latin typeface="Times New Roman" panose="02020603050405020304" pitchFamily="18" charset="0"/>
                <a:cs typeface="Times New Roman" panose="02020603050405020304" pitchFamily="18" charset="0"/>
              </a:rPr>
              <a:t>                : Minimum 4 GB (8 GB or more preferred)</a:t>
            </a:r>
          </a:p>
          <a:p>
            <a:pPr>
              <a:lnSpc>
                <a:spcPct val="16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Storage</a:t>
            </a:r>
            <a:r>
              <a:rPr lang="en-IN" sz="2400" dirty="0">
                <a:latin typeface="Times New Roman" panose="02020603050405020304" pitchFamily="18" charset="0"/>
                <a:cs typeface="Times New Roman" panose="02020603050405020304" pitchFamily="18" charset="0"/>
              </a:rPr>
              <a:t>              : 250 GB HDD / 128 GB SSD (SSD preferred)</a:t>
            </a:r>
          </a:p>
          <a:p>
            <a:pPr>
              <a:lnSpc>
                <a:spcPct val="16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Graphics  </a:t>
            </a:r>
            <a:r>
              <a:rPr lang="en-IN" sz="2400" dirty="0">
                <a:latin typeface="Times New Roman" panose="02020603050405020304" pitchFamily="18" charset="0"/>
                <a:cs typeface="Times New Roman" panose="02020603050405020304" pitchFamily="18" charset="0"/>
              </a:rPr>
              <a:t>          : Basic GPU (optional, for faster ML model training)</a:t>
            </a:r>
          </a:p>
          <a:p>
            <a:pPr>
              <a:lnSpc>
                <a:spcPct val="16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System</a:t>
            </a:r>
            <a:r>
              <a:rPr lang="en-IN" sz="2400" dirty="0">
                <a:latin typeface="Times New Roman" panose="02020603050405020304" pitchFamily="18" charset="0"/>
                <a:cs typeface="Times New Roman" panose="02020603050405020304" pitchFamily="18" charset="0"/>
              </a:rPr>
              <a:t>               : Laptop/Desktop</a:t>
            </a:r>
          </a:p>
        </p:txBody>
      </p:sp>
    </p:spTree>
    <p:extLst>
      <p:ext uri="{BB962C8B-B14F-4D97-AF65-F5344CB8AC3E}">
        <p14:creationId xmlns:p14="http://schemas.microsoft.com/office/powerpoint/2010/main" val="2715369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BA0B6E-8CCE-107C-8C38-AB7BB8B9A8DB}"/>
              </a:ext>
            </a:extLst>
          </p:cNvPr>
          <p:cNvSpPr>
            <a:spLocks noGrp="1"/>
          </p:cNvSpPr>
          <p:nvPr>
            <p:ph type="title"/>
          </p:nvPr>
        </p:nvSpPr>
        <p:spPr>
          <a:xfrm>
            <a:off x="346540" y="278654"/>
            <a:ext cx="10515600" cy="541213"/>
          </a:xfrm>
        </p:spPr>
        <p:txBody>
          <a:bodyPr>
            <a:noAutofit/>
          </a:bodyPr>
          <a:lstStyle/>
          <a:p>
            <a:r>
              <a:rPr lang="en-IN" sz="2400" b="1" dirty="0">
                <a:latin typeface="Times New Roman" panose="02020603050405020304" pitchFamily="18" charset="0"/>
                <a:cs typeface="Times New Roman" panose="02020603050405020304" pitchFamily="18" charset="0"/>
              </a:rPr>
              <a:t>Software Requirements:</a:t>
            </a:r>
            <a:br>
              <a:rPr lang="en-IN" sz="2400" b="1" dirty="0">
                <a:latin typeface="Times New Roman" panose="02020603050405020304" pitchFamily="18" charset="0"/>
                <a:cs typeface="Times New Roman" panose="02020603050405020304" pitchFamily="18" charset="0"/>
              </a:rPr>
            </a:br>
            <a:endParaRPr lang="en-IN" sz="2400" dirty="0"/>
          </a:p>
        </p:txBody>
      </p:sp>
      <p:sp>
        <p:nvSpPr>
          <p:cNvPr id="3" name="Content Placeholder 2">
            <a:extLst>
              <a:ext uri="{FF2B5EF4-FFF2-40B4-BE49-F238E27FC236}">
                <a16:creationId xmlns:a16="http://schemas.microsoft.com/office/drawing/2014/main" id="{0884CB23-66B9-3F93-E74D-BFE60740E5B5}"/>
              </a:ext>
            </a:extLst>
          </p:cNvPr>
          <p:cNvSpPr>
            <a:spLocks noGrp="1"/>
          </p:cNvSpPr>
          <p:nvPr>
            <p:ph idx="1"/>
          </p:nvPr>
        </p:nvSpPr>
        <p:spPr>
          <a:xfrm>
            <a:off x="411854" y="623906"/>
            <a:ext cx="11648209" cy="5760720"/>
          </a:xfrm>
        </p:spPr>
        <p:txBody>
          <a:bodyPr>
            <a:normAutofit fontScale="25000" lnSpcReduction="20000"/>
          </a:bodyPr>
          <a:lstStyle/>
          <a:p>
            <a:pPr algn="just">
              <a:lnSpc>
                <a:spcPct val="170000"/>
              </a:lnSpc>
              <a:buFont typeface="Wingdings" panose="05000000000000000000" pitchFamily="2" charset="2"/>
              <a:buChar char="Ø"/>
            </a:pPr>
            <a:r>
              <a:rPr lang="en-IN" sz="9600" b="1" dirty="0">
                <a:latin typeface="Times New Roman" panose="02020603050405020304" pitchFamily="18" charset="0"/>
                <a:cs typeface="Times New Roman" panose="02020603050405020304" pitchFamily="18" charset="0"/>
              </a:rPr>
              <a:t>Operating System   </a:t>
            </a:r>
            <a:r>
              <a:rPr lang="en-IN" sz="9600" dirty="0">
                <a:latin typeface="Times New Roman" panose="02020603050405020304" pitchFamily="18" charset="0"/>
                <a:cs typeface="Times New Roman" panose="02020603050405020304" pitchFamily="18" charset="0"/>
              </a:rPr>
              <a:t>            :    Windows / Linux / macOS </a:t>
            </a:r>
          </a:p>
          <a:p>
            <a:pPr algn="just">
              <a:lnSpc>
                <a:spcPct val="170000"/>
              </a:lnSpc>
              <a:buFont typeface="Wingdings" panose="05000000000000000000" pitchFamily="2" charset="2"/>
              <a:buChar char="Ø"/>
            </a:pPr>
            <a:r>
              <a:rPr lang="en-IN" sz="9600" b="1" dirty="0">
                <a:latin typeface="Times New Roman" panose="02020603050405020304" pitchFamily="18" charset="0"/>
                <a:cs typeface="Times New Roman" panose="02020603050405020304" pitchFamily="18" charset="0"/>
              </a:rPr>
              <a:t>Programming Language </a:t>
            </a:r>
            <a:r>
              <a:rPr lang="en-IN" sz="9600" dirty="0">
                <a:latin typeface="Times New Roman" panose="02020603050405020304" pitchFamily="18" charset="0"/>
                <a:cs typeface="Times New Roman" panose="02020603050405020304" pitchFamily="18" charset="0"/>
              </a:rPr>
              <a:t>    :    Python 3.x</a:t>
            </a:r>
          </a:p>
          <a:p>
            <a:pPr algn="just">
              <a:lnSpc>
                <a:spcPct val="170000"/>
              </a:lnSpc>
              <a:buFont typeface="Wingdings" panose="05000000000000000000" pitchFamily="2" charset="2"/>
              <a:buChar char="Ø"/>
            </a:pPr>
            <a:r>
              <a:rPr lang="en-IN" sz="9600" b="1" dirty="0">
                <a:latin typeface="Times New Roman" panose="02020603050405020304" pitchFamily="18" charset="0"/>
                <a:cs typeface="Times New Roman" panose="02020603050405020304" pitchFamily="18" charset="0"/>
              </a:rPr>
              <a:t>Libraries/Frameworks        </a:t>
            </a:r>
            <a:r>
              <a:rPr lang="en-IN" sz="9600" dirty="0">
                <a:latin typeface="Times New Roman" panose="02020603050405020304" pitchFamily="18" charset="0"/>
                <a:cs typeface="Times New Roman" panose="02020603050405020304" pitchFamily="18" charset="0"/>
              </a:rPr>
              <a:t>:    Scikit-learn(ML algorithms)</a:t>
            </a:r>
          </a:p>
          <a:p>
            <a:pPr marL="0" indent="0" algn="just">
              <a:lnSpc>
                <a:spcPct val="170000"/>
              </a:lnSpc>
              <a:buNone/>
            </a:pPr>
            <a:r>
              <a:rPr lang="en-IN" sz="9600" dirty="0">
                <a:latin typeface="Times New Roman" panose="02020603050405020304" pitchFamily="18" charset="0"/>
                <a:cs typeface="Times New Roman" panose="02020603050405020304" pitchFamily="18" charset="0"/>
              </a:rPr>
              <a:t>                                                     Pandas, </a:t>
            </a:r>
          </a:p>
          <a:p>
            <a:pPr marL="0" indent="0" algn="just">
              <a:lnSpc>
                <a:spcPct val="170000"/>
              </a:lnSpc>
              <a:buNone/>
            </a:pPr>
            <a:r>
              <a:rPr lang="en-IN" sz="9600" dirty="0">
                <a:latin typeface="Times New Roman" panose="02020603050405020304" pitchFamily="18" charset="0"/>
                <a:cs typeface="Times New Roman" panose="02020603050405020304" pitchFamily="18" charset="0"/>
              </a:rPr>
              <a:t>                                                     NumPy (data handling)</a:t>
            </a:r>
          </a:p>
          <a:p>
            <a:pPr marL="0" indent="0" algn="just">
              <a:lnSpc>
                <a:spcPct val="170000"/>
              </a:lnSpc>
              <a:buNone/>
            </a:pPr>
            <a:r>
              <a:rPr lang="en-IN" sz="9600" dirty="0">
                <a:latin typeface="Times New Roman" panose="02020603050405020304" pitchFamily="18" charset="0"/>
                <a:cs typeface="Times New Roman" panose="02020603050405020304" pitchFamily="18" charset="0"/>
              </a:rPr>
              <a:t>                                                     Matplotlib /Seaborn (data visualization)</a:t>
            </a:r>
          </a:p>
          <a:p>
            <a:pPr marL="0" indent="0" algn="just">
              <a:lnSpc>
                <a:spcPct val="170000"/>
              </a:lnSpc>
              <a:buNone/>
            </a:pPr>
            <a:r>
              <a:rPr lang="en-IN" sz="9600" dirty="0">
                <a:latin typeface="Times New Roman" panose="02020603050405020304" pitchFamily="18" charset="0"/>
                <a:cs typeface="Times New Roman" panose="02020603050405020304" pitchFamily="18" charset="0"/>
              </a:rPr>
              <a:t>                                                     TensorFlow / PyTorch (if deep learning is used</a:t>
            </a:r>
          </a:p>
          <a:p>
            <a:pPr algn="just">
              <a:lnSpc>
                <a:spcPct val="170000"/>
              </a:lnSpc>
              <a:buFont typeface="Wingdings" panose="05000000000000000000" pitchFamily="2" charset="2"/>
              <a:buChar char="Ø"/>
            </a:pPr>
            <a:r>
              <a:rPr lang="en-IN" sz="9600" b="1" dirty="0">
                <a:latin typeface="Times New Roman" panose="02020603050405020304" pitchFamily="18" charset="0"/>
                <a:cs typeface="Times New Roman" panose="02020603050405020304" pitchFamily="18" charset="0"/>
              </a:rPr>
              <a:t>IDE/Tools  </a:t>
            </a:r>
            <a:r>
              <a:rPr lang="en-IN" sz="9600" dirty="0">
                <a:latin typeface="Times New Roman" panose="02020603050405020304" pitchFamily="18" charset="0"/>
                <a:cs typeface="Times New Roman" panose="02020603050405020304" pitchFamily="18" charset="0"/>
              </a:rPr>
              <a:t>                        :     Jupyter Notebook / PyCharm / VS Code</a:t>
            </a:r>
          </a:p>
          <a:p>
            <a:pPr algn="just">
              <a:lnSpc>
                <a:spcPct val="170000"/>
              </a:lnSpc>
              <a:buFont typeface="Wingdings" panose="05000000000000000000" pitchFamily="2" charset="2"/>
              <a:buChar char="Ø"/>
            </a:pPr>
            <a:r>
              <a:rPr lang="en-IN" sz="9600" b="1" dirty="0">
                <a:latin typeface="Times New Roman" panose="02020603050405020304" pitchFamily="18" charset="0"/>
                <a:cs typeface="Times New Roman" panose="02020603050405020304" pitchFamily="18" charset="0"/>
              </a:rPr>
              <a:t>Database</a:t>
            </a:r>
            <a:r>
              <a:rPr lang="en-IN" sz="9600" dirty="0">
                <a:latin typeface="Times New Roman" panose="02020603050405020304" pitchFamily="18" charset="0"/>
                <a:cs typeface="Times New Roman" panose="02020603050405020304" pitchFamily="18" charset="0"/>
              </a:rPr>
              <a:t>                            :     MySQL / MongoDB (if profile data is stored)</a:t>
            </a:r>
          </a:p>
          <a:p>
            <a:endParaRPr lang="en-IN" dirty="0"/>
          </a:p>
        </p:txBody>
      </p:sp>
    </p:spTree>
    <p:extLst>
      <p:ext uri="{BB962C8B-B14F-4D97-AF65-F5344CB8AC3E}">
        <p14:creationId xmlns:p14="http://schemas.microsoft.com/office/powerpoint/2010/main" val="2118528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16A4D-2E49-E221-5990-4B94C65203CC}"/>
              </a:ext>
            </a:extLst>
          </p:cNvPr>
          <p:cNvSpPr>
            <a:spLocks noGrp="1"/>
          </p:cNvSpPr>
          <p:nvPr>
            <p:ph type="title"/>
          </p:nvPr>
        </p:nvSpPr>
        <p:spPr>
          <a:xfrm>
            <a:off x="558800" y="1"/>
            <a:ext cx="10795000" cy="1690688"/>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SYSTEM DESIGN (UML DIAGRAMS)</a:t>
            </a:r>
            <a:endParaRPr lang="en-IN" sz="3200" dirty="0"/>
          </a:p>
        </p:txBody>
      </p:sp>
      <p:pic>
        <p:nvPicPr>
          <p:cNvPr id="5" name="Content Placeholder 4">
            <a:extLst>
              <a:ext uri="{FF2B5EF4-FFF2-40B4-BE49-F238E27FC236}">
                <a16:creationId xmlns:a16="http://schemas.microsoft.com/office/drawing/2014/main" id="{ECEBE0E2-3310-8E26-1BDB-C16491DD361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4254" b="21261"/>
          <a:stretch>
            <a:fillRect/>
          </a:stretch>
        </p:blipFill>
        <p:spPr>
          <a:xfrm>
            <a:off x="2698681" y="1634265"/>
            <a:ext cx="7113914" cy="5223736"/>
          </a:xfrm>
        </p:spPr>
      </p:pic>
      <p:sp>
        <p:nvSpPr>
          <p:cNvPr id="8" name="TextBox 7">
            <a:extLst>
              <a:ext uri="{FF2B5EF4-FFF2-40B4-BE49-F238E27FC236}">
                <a16:creationId xmlns:a16="http://schemas.microsoft.com/office/drawing/2014/main" id="{404212D5-3C61-DCCB-8798-9A45A53C74EE}"/>
              </a:ext>
            </a:extLst>
          </p:cNvPr>
          <p:cNvSpPr txBox="1"/>
          <p:nvPr/>
        </p:nvSpPr>
        <p:spPr>
          <a:xfrm>
            <a:off x="1012722" y="1111045"/>
            <a:ext cx="8131277" cy="523220"/>
          </a:xfrm>
          <a:prstGeom prst="rect">
            <a:avLst/>
          </a:prstGeom>
          <a:noFill/>
        </p:spPr>
        <p:txBody>
          <a:bodyPr wrap="square">
            <a:spAutoFit/>
          </a:bodyPr>
          <a:lstStyle/>
          <a:p>
            <a:r>
              <a:rPr lang="en-US" sz="2800" b="1" u="sng" dirty="0">
                <a:latin typeface="Times New Roman" panose="02020603050405020304" pitchFamily="18" charset="0"/>
                <a:cs typeface="Times New Roman" panose="02020603050405020304" pitchFamily="18" charset="0"/>
              </a:rPr>
              <a:t>Use-Case Diagram</a:t>
            </a:r>
            <a:r>
              <a:rPr lang="en-US" sz="2800" b="1" dirty="0">
                <a:latin typeface="Times New Roman" panose="02020603050405020304" pitchFamily="18" charset="0"/>
                <a:cs typeface="Times New Roman" panose="02020603050405020304" pitchFamily="18" charset="0"/>
              </a:rPr>
              <a:t>:</a:t>
            </a:r>
            <a:endParaRPr lang="en-IN" sz="2800" dirty="0"/>
          </a:p>
        </p:txBody>
      </p:sp>
    </p:spTree>
    <p:extLst>
      <p:ext uri="{BB962C8B-B14F-4D97-AF65-F5344CB8AC3E}">
        <p14:creationId xmlns:p14="http://schemas.microsoft.com/office/powerpoint/2010/main" val="3348756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72AFC-86BB-6C89-7F37-65B85EC0AA37}"/>
              </a:ext>
            </a:extLst>
          </p:cNvPr>
          <p:cNvSpPr>
            <a:spLocks noGrp="1"/>
          </p:cNvSpPr>
          <p:nvPr>
            <p:ph type="title"/>
          </p:nvPr>
        </p:nvSpPr>
        <p:spPr/>
        <p:txBody>
          <a:bodyPr>
            <a:normAutofit/>
          </a:bodyPr>
          <a:lstStyle/>
          <a:p>
            <a:r>
              <a:rPr lang="en-IN" sz="2800" b="1" u="sng" dirty="0">
                <a:latin typeface="Times New Roman" panose="02020603050405020304" pitchFamily="18" charset="0"/>
                <a:cs typeface="Times New Roman" panose="02020603050405020304" pitchFamily="18" charset="0"/>
              </a:rPr>
              <a:t>Activity Diagram</a:t>
            </a:r>
            <a:r>
              <a:rPr lang="en-IN" sz="2800" b="1" u="sng" dirty="0"/>
              <a:t>:</a:t>
            </a:r>
          </a:p>
        </p:txBody>
      </p:sp>
      <p:pic>
        <p:nvPicPr>
          <p:cNvPr id="5" name="Content Placeholder 4">
            <a:extLst>
              <a:ext uri="{FF2B5EF4-FFF2-40B4-BE49-F238E27FC236}">
                <a16:creationId xmlns:a16="http://schemas.microsoft.com/office/drawing/2014/main" id="{7263FC72-5CBA-85AF-C19E-0F8718C7F7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51355" y="1213525"/>
            <a:ext cx="6242938" cy="5413416"/>
          </a:xfrm>
        </p:spPr>
      </p:pic>
    </p:spTree>
    <p:extLst>
      <p:ext uri="{BB962C8B-B14F-4D97-AF65-F5344CB8AC3E}">
        <p14:creationId xmlns:p14="http://schemas.microsoft.com/office/powerpoint/2010/main" val="2404627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C2A6B-BFEB-C299-30E2-73A8892E965B}"/>
              </a:ext>
            </a:extLst>
          </p:cNvPr>
          <p:cNvSpPr>
            <a:spLocks noGrp="1"/>
          </p:cNvSpPr>
          <p:nvPr>
            <p:ph type="title"/>
          </p:nvPr>
        </p:nvSpPr>
        <p:spPr/>
        <p:txBody>
          <a:bodyPr>
            <a:normAutofit/>
          </a:bodyPr>
          <a:lstStyle/>
          <a:p>
            <a:r>
              <a:rPr lang="en-IN" sz="2800" b="1" u="sng" dirty="0">
                <a:latin typeface="Times New Roman" panose="02020603050405020304" pitchFamily="18" charset="0"/>
                <a:cs typeface="Times New Roman" panose="02020603050405020304" pitchFamily="18" charset="0"/>
              </a:rPr>
              <a:t>Class Diagram:</a:t>
            </a:r>
          </a:p>
        </p:txBody>
      </p:sp>
      <p:pic>
        <p:nvPicPr>
          <p:cNvPr id="5" name="Content Placeholder 4">
            <a:extLst>
              <a:ext uri="{FF2B5EF4-FFF2-40B4-BE49-F238E27FC236}">
                <a16:creationId xmlns:a16="http://schemas.microsoft.com/office/drawing/2014/main" id="{2F25C408-A4F6-0436-377F-D85883B0B4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7333" y="1529993"/>
            <a:ext cx="6553200" cy="4646970"/>
          </a:xfrm>
        </p:spPr>
      </p:pic>
    </p:spTree>
    <p:extLst>
      <p:ext uri="{BB962C8B-B14F-4D97-AF65-F5344CB8AC3E}">
        <p14:creationId xmlns:p14="http://schemas.microsoft.com/office/powerpoint/2010/main" val="1145059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0E08-7331-A2F1-86BF-A9C8AA8CF125}"/>
              </a:ext>
            </a:extLst>
          </p:cNvPr>
          <p:cNvSpPr>
            <a:spLocks noGrp="1"/>
          </p:cNvSpPr>
          <p:nvPr>
            <p:ph type="title"/>
          </p:nvPr>
        </p:nvSpPr>
        <p:spPr>
          <a:xfrm>
            <a:off x="553064" y="70157"/>
            <a:ext cx="10515600" cy="1325563"/>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SYSTEM ARCHITECTURE</a:t>
            </a:r>
            <a:endParaRPr lang="en-IN" sz="2800" dirty="0"/>
          </a:p>
        </p:txBody>
      </p:sp>
      <p:pic>
        <p:nvPicPr>
          <p:cNvPr id="8" name="Picture 7">
            <a:extLst>
              <a:ext uri="{FF2B5EF4-FFF2-40B4-BE49-F238E27FC236}">
                <a16:creationId xmlns:a16="http://schemas.microsoft.com/office/drawing/2014/main" id="{6D62749C-3172-7681-CA26-8E80A879B35F}"/>
              </a:ext>
            </a:extLst>
          </p:cNvPr>
          <p:cNvPicPr>
            <a:picLocks noChangeAspect="1"/>
          </p:cNvPicPr>
          <p:nvPr/>
        </p:nvPicPr>
        <p:blipFill>
          <a:blip r:embed="rId2"/>
          <a:srcRect b="10627"/>
          <a:stretch>
            <a:fillRect/>
          </a:stretch>
        </p:blipFill>
        <p:spPr>
          <a:xfrm>
            <a:off x="3810000" y="951722"/>
            <a:ext cx="4572000" cy="5495731"/>
          </a:xfrm>
          <a:prstGeom prst="rect">
            <a:avLst/>
          </a:prstGeom>
        </p:spPr>
      </p:pic>
    </p:spTree>
    <p:extLst>
      <p:ext uri="{BB962C8B-B14F-4D97-AF65-F5344CB8AC3E}">
        <p14:creationId xmlns:p14="http://schemas.microsoft.com/office/powerpoint/2010/main" val="3958553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65E812-E53E-DDC2-7B6C-52ED15F6065F}"/>
              </a:ext>
            </a:extLst>
          </p:cNvPr>
          <p:cNvSpPr>
            <a:spLocks noGrp="1"/>
          </p:cNvSpPr>
          <p:nvPr>
            <p:ph idx="1"/>
          </p:nvPr>
        </p:nvSpPr>
        <p:spPr>
          <a:xfrm>
            <a:off x="410548" y="391886"/>
            <a:ext cx="10728649" cy="6074228"/>
          </a:xfrm>
        </p:spPr>
        <p:txBody>
          <a:bodyPr>
            <a:normAutofit/>
          </a:bodyPr>
          <a:lstStyle/>
          <a:p>
            <a:pPr marL="0" indent="0">
              <a:lnSpc>
                <a:spcPct val="150000"/>
              </a:lnSpc>
              <a:buNone/>
            </a:pPr>
            <a:r>
              <a:rPr lang="en-IN" sz="3000" b="1" dirty="0">
                <a:solidFill>
                  <a:srgbClr val="FF0000"/>
                </a:solidFill>
                <a:latin typeface="Times New Roman" panose="02020603050405020304" pitchFamily="18" charset="0"/>
                <a:cs typeface="Times New Roman" panose="02020603050405020304" pitchFamily="18" charset="0"/>
              </a:rPr>
              <a:t>MODEL IMPLEMENTATION</a:t>
            </a:r>
            <a:endParaRPr lang="en-IN" sz="3000" dirty="0">
              <a:solidFill>
                <a:srgbClr val="FF0000"/>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Implemented multiple machine learning algorithms:</a:t>
            </a:r>
          </a:p>
          <a:p>
            <a:pPr lvl="1">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Logistic Regression</a:t>
            </a:r>
          </a:p>
          <a:p>
            <a:pPr lvl="1">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Support Vector Machine (SVM)</a:t>
            </a:r>
          </a:p>
          <a:p>
            <a:pPr lvl="1">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Random Forest</a:t>
            </a:r>
          </a:p>
          <a:p>
            <a:pPr lvl="1">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Gradient Boosting</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Trained all models on the same dataset.</a:t>
            </a:r>
          </a:p>
          <a:p>
            <a:pPr>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Selected Gradient Boosting based on best performance.</a:t>
            </a:r>
          </a:p>
          <a:p>
            <a:endParaRPr lang="en-IN" dirty="0"/>
          </a:p>
        </p:txBody>
      </p:sp>
    </p:spTree>
    <p:extLst>
      <p:ext uri="{BB962C8B-B14F-4D97-AF65-F5344CB8AC3E}">
        <p14:creationId xmlns:p14="http://schemas.microsoft.com/office/powerpoint/2010/main" val="1136445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430FB0-B4E1-6614-8A0D-795348CEA09A}"/>
              </a:ext>
            </a:extLst>
          </p:cNvPr>
          <p:cNvSpPr>
            <a:spLocks noGrp="1"/>
          </p:cNvSpPr>
          <p:nvPr>
            <p:ph type="title"/>
          </p:nvPr>
        </p:nvSpPr>
        <p:spPr>
          <a:xfrm>
            <a:off x="838200" y="365126"/>
            <a:ext cx="10515600" cy="502622"/>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SYSTEM WORKFLOW</a:t>
            </a:r>
            <a:endParaRPr lang="en-IN" sz="28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06065F1-0580-70BF-38C6-819BA5010C38}"/>
              </a:ext>
            </a:extLst>
          </p:cNvPr>
          <p:cNvPicPr>
            <a:picLocks noGrp="1" noChangeAspect="1"/>
          </p:cNvPicPr>
          <p:nvPr>
            <p:ph idx="1"/>
          </p:nvPr>
        </p:nvPicPr>
        <p:blipFill>
          <a:blip r:embed="rId2"/>
          <a:srcRect t="18453" b="22793"/>
          <a:stretch>
            <a:fillRect/>
          </a:stretch>
        </p:blipFill>
        <p:spPr>
          <a:xfrm>
            <a:off x="1472682" y="989045"/>
            <a:ext cx="9246636" cy="5057191"/>
          </a:xfrm>
          <a:prstGeom prst="rect">
            <a:avLst/>
          </a:prstGeom>
        </p:spPr>
      </p:pic>
    </p:spTree>
    <p:extLst>
      <p:ext uri="{BB962C8B-B14F-4D97-AF65-F5344CB8AC3E}">
        <p14:creationId xmlns:p14="http://schemas.microsoft.com/office/powerpoint/2010/main" val="1917850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80DB2-66C6-2943-6D63-4625840B38CE}"/>
              </a:ext>
            </a:extLst>
          </p:cNvPr>
          <p:cNvSpPr>
            <a:spLocks noGrp="1"/>
          </p:cNvSpPr>
          <p:nvPr>
            <p:ph idx="1"/>
          </p:nvPr>
        </p:nvSpPr>
        <p:spPr>
          <a:xfrm>
            <a:off x="716902" y="485143"/>
            <a:ext cx="10515600" cy="5887714"/>
          </a:xfrm>
        </p:spPr>
        <p:txBody>
          <a:bodyPr>
            <a:normAutofit/>
          </a:bodyPr>
          <a:lstStyle/>
          <a:p>
            <a:pPr marL="0" indent="0">
              <a:buNone/>
            </a:pPr>
            <a:r>
              <a:rPr lang="en-US" sz="3000" b="1" dirty="0">
                <a:solidFill>
                  <a:srgbClr val="FF0000"/>
                </a:solidFill>
                <a:latin typeface="Times New Roman" panose="02020603050405020304" pitchFamily="18" charset="0"/>
                <a:cs typeface="Times New Roman" panose="02020603050405020304" pitchFamily="18" charset="0"/>
              </a:rPr>
              <a:t>RESULTS</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3F6ECF8-1269-0FBE-019A-6AB7B4B63099}"/>
              </a:ext>
            </a:extLst>
          </p:cNvPr>
          <p:cNvSpPr txBox="1"/>
          <p:nvPr/>
        </p:nvSpPr>
        <p:spPr>
          <a:xfrm>
            <a:off x="531845" y="1232729"/>
            <a:ext cx="6867331" cy="4457952"/>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system is expected to accurately classify fake and genuine social media profiles.</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Machine learning models are expected to achieve high classification accuracy.</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Feature engineering is expected to improve detection performance.</a:t>
            </a:r>
          </a:p>
          <a:p>
            <a:pPr marL="342900" indent="-3429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Gradient Boosting is expected to outperform other algorithms.</a:t>
            </a:r>
          </a:p>
        </p:txBody>
      </p:sp>
      <p:pic>
        <p:nvPicPr>
          <p:cNvPr id="10" name="Picture 9">
            <a:extLst>
              <a:ext uri="{FF2B5EF4-FFF2-40B4-BE49-F238E27FC236}">
                <a16:creationId xmlns:a16="http://schemas.microsoft.com/office/drawing/2014/main" id="{D0A59BE9-E23D-4FD3-C6F2-255F62EE07AC}"/>
              </a:ext>
            </a:extLst>
          </p:cNvPr>
          <p:cNvPicPr>
            <a:picLocks noChangeAspect="1"/>
          </p:cNvPicPr>
          <p:nvPr/>
        </p:nvPicPr>
        <p:blipFill>
          <a:blip r:embed="rId2"/>
          <a:stretch>
            <a:fillRect/>
          </a:stretch>
        </p:blipFill>
        <p:spPr>
          <a:xfrm>
            <a:off x="7081934" y="1314528"/>
            <a:ext cx="4655976" cy="4310743"/>
          </a:xfrm>
          <a:prstGeom prst="rect">
            <a:avLst/>
          </a:prstGeom>
        </p:spPr>
      </p:pic>
    </p:spTree>
    <p:extLst>
      <p:ext uri="{BB962C8B-B14F-4D97-AF65-F5344CB8AC3E}">
        <p14:creationId xmlns:p14="http://schemas.microsoft.com/office/powerpoint/2010/main" val="109193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A943D2-7E03-1C81-AB6E-A50FE9E62002}"/>
              </a:ext>
            </a:extLst>
          </p:cNvPr>
          <p:cNvPicPr>
            <a:picLocks noChangeAspect="1"/>
          </p:cNvPicPr>
          <p:nvPr/>
        </p:nvPicPr>
        <p:blipFill>
          <a:blip r:embed="rId2"/>
          <a:srcRect r="4556"/>
          <a:stretch>
            <a:fillRect/>
          </a:stretch>
        </p:blipFill>
        <p:spPr>
          <a:xfrm>
            <a:off x="6095999" y="429207"/>
            <a:ext cx="5601478" cy="5617029"/>
          </a:xfrm>
          <a:prstGeom prst="rect">
            <a:avLst/>
          </a:prstGeom>
        </p:spPr>
      </p:pic>
      <p:pic>
        <p:nvPicPr>
          <p:cNvPr id="11" name="Picture 10">
            <a:extLst>
              <a:ext uri="{FF2B5EF4-FFF2-40B4-BE49-F238E27FC236}">
                <a16:creationId xmlns:a16="http://schemas.microsoft.com/office/drawing/2014/main" id="{6ACA3008-16C7-E88A-9362-9C496ABB5F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523" y="572194"/>
            <a:ext cx="5411753" cy="5474043"/>
          </a:xfrm>
          <a:prstGeom prst="rect">
            <a:avLst/>
          </a:prstGeom>
        </p:spPr>
      </p:pic>
    </p:spTree>
    <p:extLst>
      <p:ext uri="{BB962C8B-B14F-4D97-AF65-F5344CB8AC3E}">
        <p14:creationId xmlns:p14="http://schemas.microsoft.com/office/powerpoint/2010/main" val="728972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F65DB-5C81-0581-3786-48BF6EAB22AA}"/>
              </a:ext>
            </a:extLst>
          </p:cNvPr>
          <p:cNvSpPr>
            <a:spLocks noGrp="1"/>
          </p:cNvSpPr>
          <p:nvPr>
            <p:ph type="title"/>
          </p:nvPr>
        </p:nvSpPr>
        <p:spPr>
          <a:xfrm>
            <a:off x="530290" y="289250"/>
            <a:ext cx="10515600" cy="1325563"/>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PERFORMANCE EVALUATION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A47224B-4794-424F-A37F-EEAE66D21A2A}"/>
              </a:ext>
            </a:extLst>
          </p:cNvPr>
          <p:cNvSpPr>
            <a:spLocks noGrp="1" noChangeArrowheads="1"/>
          </p:cNvSpPr>
          <p:nvPr>
            <p:ph idx="1"/>
          </p:nvPr>
        </p:nvSpPr>
        <p:spPr bwMode="auto">
          <a:xfrm>
            <a:off x="716902" y="1325563"/>
            <a:ext cx="7648119"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Font typeface="Wingdings" panose="05000000000000000000" pitchFamily="2" charset="2"/>
              <a:buChar char="Ø"/>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using Accuracy, Confusion Matrix, ROC Curve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LR, SVM, RF, and GB models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Gradient Boosting achieved best performance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accuracy and low misclassification observed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ROC curve shows strong model efficiency </a:t>
            </a:r>
          </a:p>
        </p:txBody>
      </p:sp>
    </p:spTree>
    <p:extLst>
      <p:ext uri="{BB962C8B-B14F-4D97-AF65-F5344CB8AC3E}">
        <p14:creationId xmlns:p14="http://schemas.microsoft.com/office/powerpoint/2010/main" val="3472442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25379-4D23-1047-0C2E-1A8547229764}"/>
              </a:ext>
            </a:extLst>
          </p:cNvPr>
          <p:cNvSpPr>
            <a:spLocks noGrp="1"/>
          </p:cNvSpPr>
          <p:nvPr>
            <p:ph type="title"/>
          </p:nvPr>
        </p:nvSpPr>
        <p:spPr>
          <a:xfrm>
            <a:off x="457200" y="438539"/>
            <a:ext cx="10896600" cy="634483"/>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FUTURE WORK</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00DE349-1486-7905-C230-A402DF0D78E6}"/>
              </a:ext>
            </a:extLst>
          </p:cNvPr>
          <p:cNvSpPr>
            <a:spLocks noGrp="1" noChangeArrowheads="1"/>
          </p:cNvSpPr>
          <p:nvPr>
            <p:ph idx="1"/>
          </p:nvPr>
        </p:nvSpPr>
        <p:spPr bwMode="auto">
          <a:xfrm>
            <a:off x="457200" y="1073022"/>
            <a:ext cx="933061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models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(ANN, CNN) for higher accuracy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detection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social media APIs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behavior &amp; content analysis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better prediction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 as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application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detection of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and evolving fake profiles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 dataset for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generalization and scalability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709078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1C85D-3A73-636B-5389-54D863B10155}"/>
              </a:ext>
            </a:extLst>
          </p:cNvPr>
          <p:cNvSpPr>
            <a:spLocks noGrp="1"/>
          </p:cNvSpPr>
          <p:nvPr>
            <p:ph type="title"/>
          </p:nvPr>
        </p:nvSpPr>
        <p:spPr>
          <a:xfrm>
            <a:off x="446314" y="75876"/>
            <a:ext cx="10515600" cy="1325563"/>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CONCLUSION</a:t>
            </a:r>
            <a:endParaRPr lang="en-IN" sz="2800" dirty="0"/>
          </a:p>
        </p:txBody>
      </p:sp>
      <p:sp>
        <p:nvSpPr>
          <p:cNvPr id="3" name="Content Placeholder 2">
            <a:extLst>
              <a:ext uri="{FF2B5EF4-FFF2-40B4-BE49-F238E27FC236}">
                <a16:creationId xmlns:a16="http://schemas.microsoft.com/office/drawing/2014/main" id="{8C26BEC0-486C-FA00-405C-AB77A939D2B3}"/>
              </a:ext>
            </a:extLst>
          </p:cNvPr>
          <p:cNvSpPr>
            <a:spLocks noGrp="1"/>
          </p:cNvSpPr>
          <p:nvPr>
            <p:ph idx="1"/>
          </p:nvPr>
        </p:nvSpPr>
        <p:spPr>
          <a:xfrm>
            <a:off x="345635" y="1182099"/>
            <a:ext cx="11308300" cy="4493802"/>
          </a:xfrm>
        </p:spPr>
        <p:txBody>
          <a:bodyPr>
            <a:normAutofit/>
          </a:bodyPr>
          <a:lstStyle/>
          <a:p>
            <a:pPr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Fake Profile Detection system uses a strong Machine‑Learning process to stop fake accounts, which helps keep the platform safe and trustworthy. It creates important features from user behavior and network data to accurately spot fraudulent profiles. </a:t>
            </a:r>
          </a:p>
          <a:p>
            <a:pPr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system works in real time, so it can quickly flag suspicious accounts for administrators to review. This automated approach is faster and more reliable than manual checking, greatly reducing spam and fraud.</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5205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99B84-1667-9E88-2A0C-CB0146F93D82}"/>
              </a:ext>
            </a:extLst>
          </p:cNvPr>
          <p:cNvSpPr>
            <a:spLocks noGrp="1"/>
          </p:cNvSpPr>
          <p:nvPr>
            <p:ph type="title"/>
          </p:nvPr>
        </p:nvSpPr>
        <p:spPr>
          <a:xfrm>
            <a:off x="511628" y="19276"/>
            <a:ext cx="10515600" cy="1325563"/>
          </a:xfrm>
        </p:spPr>
        <p:txBody>
          <a:bodyPr>
            <a:normAutofit/>
          </a:bodyPr>
          <a:lstStyle/>
          <a:p>
            <a:r>
              <a:rPr lang="en-IN" sz="2800" b="1" dirty="0">
                <a:solidFill>
                  <a:srgbClr val="FF0000"/>
                </a:solidFill>
                <a:latin typeface="Times New Roman" panose="02020603050405020304" pitchFamily="18" charset="0"/>
                <a:cs typeface="Times New Roman" panose="02020603050405020304" pitchFamily="18" charset="0"/>
              </a:rPr>
              <a:t>BIBLIOGRAPHY</a:t>
            </a:r>
          </a:p>
        </p:txBody>
      </p:sp>
      <p:sp>
        <p:nvSpPr>
          <p:cNvPr id="4" name="Rectangle 1">
            <a:extLst>
              <a:ext uri="{FF2B5EF4-FFF2-40B4-BE49-F238E27FC236}">
                <a16:creationId xmlns:a16="http://schemas.microsoft.com/office/drawing/2014/main" id="{135302C1-FDF8-0313-F555-D2A282FA9CF8}"/>
              </a:ext>
            </a:extLst>
          </p:cNvPr>
          <p:cNvSpPr>
            <a:spLocks noGrp="1" noChangeArrowheads="1"/>
          </p:cNvSpPr>
          <p:nvPr>
            <p:ph idx="1"/>
          </p:nvPr>
        </p:nvSpPr>
        <p:spPr bwMode="auto">
          <a:xfrm>
            <a:off x="632926" y="1137798"/>
            <a:ext cx="6982232"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Scikit-learn Documentation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https://scikit-learn.org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 Documentation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https://pandas.pydata.org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NumPy Documentation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https://numpy.org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Seaborn Documentation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https://seaborn.pydata.org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Kaggle – Dataset source </a:t>
            </a:r>
          </a:p>
        </p:txBody>
      </p:sp>
    </p:spTree>
    <p:extLst>
      <p:ext uri="{BB962C8B-B14F-4D97-AF65-F5344CB8AC3E}">
        <p14:creationId xmlns:p14="http://schemas.microsoft.com/office/powerpoint/2010/main" val="641288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259143F-9032-063A-C372-D029EA85AEF4}"/>
              </a:ext>
            </a:extLst>
          </p:cNvPr>
          <p:cNvSpPr>
            <a:spLocks noGrp="1"/>
          </p:cNvSpPr>
          <p:nvPr>
            <p:ph type="title"/>
          </p:nvPr>
        </p:nvSpPr>
        <p:spPr>
          <a:xfrm>
            <a:off x="3923070" y="1720646"/>
            <a:ext cx="3785420" cy="2871019"/>
          </a:xfrm>
        </p:spPr>
        <p:txBody>
          <a:bodyPr>
            <a:normAutofit/>
          </a:bodyPr>
          <a:lstStyle/>
          <a:p>
            <a:r>
              <a:rPr lang="en-US" sz="6000" dirty="0">
                <a:solidFill>
                  <a:srgbClr val="7030A0"/>
                </a:solidFill>
                <a:latin typeface="Times New Roman" panose="02020603050405020304" pitchFamily="18" charset="0"/>
                <a:cs typeface="Times New Roman" panose="02020603050405020304" pitchFamily="18" charset="0"/>
              </a:rPr>
              <a:t>Thank you!</a:t>
            </a:r>
            <a:endParaRPr lang="en-IN" sz="6000"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87744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613</TotalTime>
  <Words>1292</Words>
  <Application>Microsoft Office PowerPoint</Application>
  <PresentationFormat>Widescreen</PresentationFormat>
  <Paragraphs>117</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PowerPoint Presentation</vt:lpstr>
      <vt:lpstr>CONTENTS</vt:lpstr>
      <vt:lpstr>INTRODUCTION</vt:lpstr>
      <vt:lpstr>ABSTRACT</vt:lpstr>
      <vt:lpstr>PROBLEM STATEMENT</vt:lpstr>
      <vt:lpstr>EXISTING SYSTEM </vt:lpstr>
      <vt:lpstr>PowerPoint Presentation</vt:lpstr>
      <vt:lpstr>LIMITATIONS OF EXISTING SYSTEM</vt:lpstr>
      <vt:lpstr>PowerPoint Presentation</vt:lpstr>
      <vt:lpstr> PROPOSED SYSTEM</vt:lpstr>
      <vt:lpstr>PowerPoint Presentation</vt:lpstr>
      <vt:lpstr>ADVANTAGES </vt:lpstr>
      <vt:lpstr>PowerPoint Presentation</vt:lpstr>
      <vt:lpstr>SYSTEM REQUIREMENT SPECIFICATION</vt:lpstr>
      <vt:lpstr>Software Requirements: </vt:lpstr>
      <vt:lpstr>SYSTEM DESIGN (UML DIAGRAMS)</vt:lpstr>
      <vt:lpstr>Activity Diagram:</vt:lpstr>
      <vt:lpstr>Class Diagram:</vt:lpstr>
      <vt:lpstr>SYSTEM ARCHITECTURE</vt:lpstr>
      <vt:lpstr>PowerPoint Presentation</vt:lpstr>
      <vt:lpstr>SYSTEM WORKFLOW</vt:lpstr>
      <vt:lpstr>PowerPoint Presentation</vt:lpstr>
      <vt:lpstr>PowerPoint Presentation</vt:lpstr>
      <vt:lpstr>PERFORMANCE EVALUATION</vt:lpstr>
      <vt:lpstr>FUTURE WORK</vt:lpstr>
      <vt:lpstr>CONCLUSION</vt:lpstr>
      <vt:lpstr>BIBLIOGRAPHY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snehatejavath14@gmail.com</dc:creator>
  <cp:lastModifiedBy>snehatejavath14@gmail.com</cp:lastModifiedBy>
  <cp:revision>18</cp:revision>
  <dcterms:created xsi:type="dcterms:W3CDTF">2025-08-24T16:33:18Z</dcterms:created>
  <dcterms:modified xsi:type="dcterms:W3CDTF">2026-05-11T12:00:45Z</dcterms:modified>
</cp:coreProperties>
</file>